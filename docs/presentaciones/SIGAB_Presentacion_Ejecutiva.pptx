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SIGAB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Integral de Gestión de Activos Biomédicos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López Carballo Gustavo  •  Domínguez Fernando  •  Soltero Salvador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Xochicalco Campus Tijuana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Bioingeniería en Procesos de Manufactura — 10° Cuatrimestre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5669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de abril de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E293B"/>
                </a:solidFill>
              </a:rPr>
              <a:t>El Problema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2377440" cy="1645920"/>
          </a:xfrm>
          <a:prstGeom prst="rect">
            <a:avLst/>
          </a:prstGeom>
          <a:solidFill>
            <a:srgbClr val="EF4444">
              <a:alpha val="90000"/>
            </a:srgbClr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85%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personal pierde tiempo buscando equipos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83280" y="1188720"/>
            <a:ext cx="2377440" cy="1645920"/>
          </a:xfrm>
          <a:prstGeom prst="rect">
            <a:avLst/>
          </a:prstGeom>
          <a:solidFill>
            <a:srgbClr val="EF4444">
              <a:alpha val="90000"/>
            </a:srgbClr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0" y="13716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3383280" y="21031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mantenimientos preventivos retrasados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1188720"/>
            <a:ext cx="2377440" cy="1645920"/>
          </a:xfrm>
          <a:prstGeom prst="rect">
            <a:avLst/>
          </a:prstGeom>
          <a:solidFill>
            <a:srgbClr val="EF4444">
              <a:alpha val="90000"/>
            </a:srgbClr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0" y="13716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45-90 min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6035040" y="21031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cada Orden de Servicio en papel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Los hospitales IMSS operan con formatos en papel del siglo pasado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E293B"/>
                </a:solidFill>
              </a:rPr>
              <a:t>La Solución: SIGAB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1828800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3258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WhatsApp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377440" y="1645920"/>
            <a:ext cx="182880" cy="1828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Shape 4"/>
          <p:cNvSpPr/>
          <p:nvPr/>
        </p:nvSpPr>
        <p:spPr>
          <a:xfrm>
            <a:off x="2606040" y="1188720"/>
            <a:ext cx="1828800" cy="1097280"/>
          </a:xfrm>
          <a:prstGeom prst="rect">
            <a:avLst/>
          </a:prstGeom>
          <a:solidFill>
            <a:srgbClr val="14B8A6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06040" y="13258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OCR con IA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80560" y="1645920"/>
            <a:ext cx="182880" cy="1828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9" name="Shape 7"/>
          <p:cNvSpPr/>
          <p:nvPr/>
        </p:nvSpPr>
        <p:spPr>
          <a:xfrm>
            <a:off x="4709160" y="1188720"/>
            <a:ext cx="1828800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3258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Validación Poka-Yoke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583680" y="1645920"/>
            <a:ext cx="182880" cy="1828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2" name="Shape 10"/>
          <p:cNvSpPr/>
          <p:nvPr/>
        </p:nvSpPr>
        <p:spPr>
          <a:xfrm>
            <a:off x="6812280" y="1188720"/>
            <a:ext cx="1828800" cy="1097280"/>
          </a:xfrm>
          <a:prstGeom prst="rect">
            <a:avLst/>
          </a:prstGeom>
          <a:solidFill>
            <a:srgbClr val="14B8A6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12280" y="13258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 en Tiempo Real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Plataforma On-Premise con Inteligencia Artificial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Triple validación: QR + N° Inventario + N° Serie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14400" y="3749040"/>
            <a:ext cx="7315200" cy="2560320"/>
          </a:xfrm>
          <a:prstGeom prst="rect">
            <a:avLst/>
          </a:prstGeom>
          <a:solidFill>
            <a:srgbClr val="0D9488">
              <a:alpha val="8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3931920"/>
            <a:ext cx="6766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tiempo manual a &lt; 2 minutos  •  Cero error en captura  •  Automatización 100% en LAN seguro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E293B"/>
                </a:solidFill>
              </a:rPr>
              <a:t>SIGAB en Acción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914400" y="1188720"/>
            <a:ext cx="2011680" cy="822960"/>
          </a:xfrm>
          <a:prstGeom prst="roundRect">
            <a:avLst/>
          </a:prstGeom>
          <a:solidFill>
            <a:srgbClr val="2A5A8C"/>
          </a:solidFill>
          <a:ln w="25400">
            <a:solidFill>
              <a:srgbClr val="1B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280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Foto de OS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08960" y="1325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474720" y="1188720"/>
            <a:ext cx="2011680" cy="822960"/>
          </a:xfrm>
          <a:prstGeom prst="roundRect">
            <a:avLst/>
          </a:prstGeom>
          <a:solidFill>
            <a:srgbClr val="2A5A8C"/>
          </a:solidFill>
          <a:ln w="25400">
            <a:solidFill>
              <a:srgbClr val="1B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1280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Extracción IA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0" y="1325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035040" y="1188720"/>
            <a:ext cx="2011680" cy="822960"/>
          </a:xfrm>
          <a:prstGeom prst="roundRect">
            <a:avLst/>
          </a:prstGeom>
          <a:solidFill>
            <a:srgbClr val="2A5A8C"/>
          </a:solidFill>
          <a:ln w="25400">
            <a:solidFill>
              <a:srgbClr val="1B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0" y="1280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 Actualizado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2 minutos de transcripción manual a registro digital trazable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31520" y="2926080"/>
            <a:ext cx="768096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64748B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[Captura de pantalla del Dashboard real — insertar]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00400" y="530352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3749040" y="53035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Operativo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0" y="530352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5577840" y="53035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Mantenimiento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040880" y="530352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7589520" y="53035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Fuera de Servicio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E293B"/>
                </a:solidFill>
              </a:rPr>
              <a:t>Estudio Técnico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828800" cy="1828800"/>
          </a:xfrm>
          <a:prstGeom prst="rect">
            <a:avLst/>
          </a:prstGeom>
          <a:solidFill>
            <a:srgbClr val="2A5A8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3258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operativo automatizado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834640" y="1188720"/>
            <a:ext cx="1828800" cy="1828800"/>
          </a:xfrm>
          <a:prstGeom prst="rect">
            <a:avLst/>
          </a:prstGeom>
          <a:solidFill>
            <a:srgbClr val="2A5A8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0" y="13258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72 hrs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926080" y="19202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Despliegue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26080" y="23317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hospital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3291840"/>
            <a:ext cx="1828800" cy="1828800"/>
          </a:xfrm>
          <a:prstGeom prst="rect">
            <a:avLst/>
          </a:prstGeom>
          <a:solidFill>
            <a:srgbClr val="2A5A8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4290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10,000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22960" y="40233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Peticiones diarias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44348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cero latencia LAN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834640" y="3291840"/>
            <a:ext cx="1828800" cy="1828800"/>
          </a:xfrm>
          <a:prstGeom prst="rect">
            <a:avLst/>
          </a:prstGeom>
          <a:solidFill>
            <a:srgbClr val="2A5A8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0" y="34290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350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2926080" y="40233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Activos biomédicos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926080" y="44348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hospital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5303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On-Premise: Lenovo ThinkCentre M720q + Zebra ZD411 + MySQL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E293B"/>
                </a:solidFill>
              </a:rPr>
              <a:t>Manufactura 4.0 + Industria Hospitalaria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4389120"/>
          </a:xfrm>
          <a:prstGeom prst="rect">
            <a:avLst/>
          </a:prstGeom>
          <a:solidFill>
            <a:srgbClr val="0D9488">
              <a:alpha val="8000"/>
            </a:srgbClr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Refacciones 3D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Impresión FDM para piezas OEM descontinuadas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~20% de ahorro vs proveedor original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9319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Certificación FDA-compatible en plásticos médicos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4389120"/>
          </a:xfrm>
          <a:prstGeom prst="rect">
            <a:avLst/>
          </a:prstGeom>
          <a:solidFill>
            <a:srgbClr val="14B8A6">
              <a:alpha val="8000"/>
            </a:srgbClr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3716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Trazabilidad Inteligente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937760" y="19202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Level H resistente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25603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RFID autoclave 134°C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32004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Etiquetas térmicas Zebra cero tinta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38404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Historial completo de cada activo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E293B"/>
                </a:solidFill>
              </a:rPr>
              <a:t>Modelo de Negocio B2G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3200400" cy="1645920"/>
          </a:xfrm>
          <a:prstGeom prst="rect">
            <a:avLst/>
          </a:prstGeom>
          <a:solidFill>
            <a:srgbClr val="2A5A8C"/>
          </a:solidFill>
          <a:ln w="25400">
            <a:solidFill>
              <a:srgbClr val="1B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46304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$60,000 MXN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por hospital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297680" y="1280160"/>
            <a:ext cx="3200400" cy="1645920"/>
          </a:xfrm>
          <a:prstGeom prst="rect">
            <a:avLst/>
          </a:prstGeom>
          <a:solidFill>
            <a:srgbClr val="0D9488"/>
          </a:solidFill>
          <a:ln w="25400">
            <a:solidFill>
              <a:srgbClr val="1B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0" y="146304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$120,000 MXN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297680" y="21945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Licencia anual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Precio promedio: $180,000 MXN por hospital (Año 1)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 vía LAASSP: Adjudicación directa + Licitación pública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Punto de equilibrio: 0.8 hospitales/mes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E293B"/>
                </a:solidFill>
              </a:rPr>
              <a:t>Proyección Financiera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1737360" cy="1828800"/>
          </a:xfrm>
          <a:prstGeom prst="rect">
            <a:avLst/>
          </a:prstGeom>
          <a:solidFill>
            <a:srgbClr val="0D9488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3258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$153K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9659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CapEx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23317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Inversión inicial total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651760" y="1188720"/>
            <a:ext cx="1737360" cy="1828800"/>
          </a:xfrm>
          <a:prstGeom prst="rect">
            <a:avLst/>
          </a:prstGeom>
          <a:solidFill>
            <a:srgbClr val="0D9488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97480" y="13258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$34K/mes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697480" y="19659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OpEx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97480" y="23317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operativo mensual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1737360" cy="1828800"/>
          </a:xfrm>
          <a:prstGeom prst="rect">
            <a:avLst/>
          </a:prstGeom>
          <a:solidFill>
            <a:srgbClr val="0D9488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3258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$1.8M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709160" y="19659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Año 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09160" y="23317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Ventas proyectadas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675120" y="1188720"/>
            <a:ext cx="1737360" cy="1828800"/>
          </a:xfrm>
          <a:prstGeom prst="rect">
            <a:avLst/>
          </a:prstGeom>
          <a:solidFill>
            <a:srgbClr val="0D9488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13258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Q1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720840" y="19659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Recuperación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20840" y="23317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inversión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TAM: $2,200-3,600M  •  SAM: $360-590M  •  SOM: $14.4M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Horizonte: 120 hospitales IMSS en México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663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conservador: 12 hospitales Año 1, 36 Año 2, 120 Año 3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E293B"/>
                </a:solidFill>
              </a:rPr>
              <a:t>Marco Legal — Fortaleza Competitiva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914400" y="1280160"/>
            <a:ext cx="3657600" cy="1280160"/>
          </a:xfrm>
          <a:prstGeom prst="rect">
            <a:avLst/>
          </a:prstGeom>
          <a:solidFill>
            <a:srgbClr val="10B981">
              <a:alpha val="1500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371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No-SaMD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178308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registro COFEPRIS requerido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937760" y="1280160"/>
            <a:ext cx="3657600" cy="1280160"/>
          </a:xfrm>
          <a:prstGeom prst="rect">
            <a:avLst/>
          </a:prstGeom>
          <a:solidFill>
            <a:srgbClr val="10B981">
              <a:alpha val="1500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0" y="1371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Normatividad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120640" y="178308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NOM-016, NOM-240, ISO 13485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926080"/>
            <a:ext cx="3657600" cy="1280160"/>
          </a:xfrm>
          <a:prstGeom prst="rect">
            <a:avLst/>
          </a:prstGeom>
          <a:solidFill>
            <a:srgbClr val="10B981">
              <a:alpha val="1500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017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Privacidad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342900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LFPDPPP cumplido por diseño On-Premise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937760" y="2926080"/>
            <a:ext cx="3657600" cy="1280160"/>
          </a:xfrm>
          <a:prstGeom prst="rect">
            <a:avLst/>
          </a:prstGeom>
          <a:solidFill>
            <a:srgbClr val="10B981">
              <a:alpha val="1500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3017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Fiscal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120640" y="342900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México: 89% deducción fiscal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4754880"/>
            <a:ext cx="7680960" cy="1371600"/>
          </a:xfrm>
          <a:prstGeom prst="rect">
            <a:avLst/>
          </a:prstGeom>
          <a:solidFill>
            <a:srgbClr val="1B3A5C">
              <a:alpha val="5000"/>
            </a:srgbClr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8920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Cumplimiento integral: Medical Device Directive EU, FDA 510(k) exempt class, INVIMA Colombia, COFEPRIS México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E293B"/>
                </a:solidFill>
              </a:rPr>
              <a:t>El Equipo SIGAB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2377440" cy="1645920"/>
          </a:xfrm>
          <a:prstGeom prst="rect">
            <a:avLst/>
          </a:prstGeom>
          <a:solidFill>
            <a:srgbClr val="2A5A8C"/>
          </a:solidFill>
          <a:ln w="25400">
            <a:solidFill>
              <a:srgbClr val="1B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3716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Gustavo López Carballo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196596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 de Proyecto / CTO / Full-Stack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83280" y="1188720"/>
            <a:ext cx="2377440" cy="1645920"/>
          </a:xfrm>
          <a:prstGeom prst="rect">
            <a:avLst/>
          </a:prstGeom>
          <a:solidFill>
            <a:srgbClr val="2A5A8C"/>
          </a:solidFill>
          <a:ln w="25400">
            <a:solidFill>
              <a:srgbClr val="1B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20440" y="13716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Fernando Domínguez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520440" y="196596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Gerente de Operaciones / QA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35040" y="1188720"/>
            <a:ext cx="2377440" cy="1645920"/>
          </a:xfrm>
          <a:prstGeom prst="rect">
            <a:avLst/>
          </a:prstGeom>
          <a:solidFill>
            <a:srgbClr val="2A5A8C"/>
          </a:solidFill>
          <a:ln w="25400">
            <a:solidFill>
              <a:srgbClr val="1B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2200" y="13716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Salvador Soltero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72200" y="196596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Gerente de Capacitación / Soporte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Stakeholders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Carlos Oswaldo Ramírez González (Jefe de Conservación HGR1)  •  Félix Sainz  •  Jonathan M. Bautista García (Técnicos Biomédicos)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Asesor: Mtro. Esteban Ham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SIGAB ya está funcionando.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continuación: conexión en vivo con el HGR No. 1 del IMSS Tijuana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Prueba de Concepto validada — Dashboard en tiempo real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846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min Pitch + 2 min Demo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 EN VIVO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Videollamada Sala MIB ↔ HGR No. 1 IMSS Tijuana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0" y="20116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Mostrar dashboard real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25603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Escanear código QR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31089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Cambio de estado en vivo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3840480"/>
            <a:ext cx="7315200" cy="2194560"/>
          </a:xfrm>
          <a:prstGeom prst="rect">
            <a:avLst/>
          </a:prstGeom>
          <a:solidFill>
            <a:srgbClr val="FFFFFF">
              <a:alpha val="90000"/>
            </a:srgbClr>
          </a:solidFill>
          <a:ln w="25400">
            <a:solidFill>
              <a:srgbClr val="14B8A6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914400" y="4663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[PANTALLA DE VIDEOLLAMADA]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2026-04-10T21:00:06Z</dcterms:created>
  <dcterms:modified xsi:type="dcterms:W3CDTF">2026-04-10T21:00:06Z</dcterms:modified>
</cp:coreProperties>
</file>